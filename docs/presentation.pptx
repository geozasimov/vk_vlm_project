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77f167b-2bc6-5f47-df02-131110ca2101}">
          <p14:sldIdLst>
            <p14:sldId id="256"/>
            <p14:sldId id="257"/>
            <p14:sldId id="258"/>
          </p14:sldIdLst>
        </p14:section>
        <p14:section name="Метод" id="{122bd1be-3783-797b-9f48-34e6a597718a}">
          <p14:sldIdLst>
            <p14:sldId id="259"/>
            <p14:sldId id="260"/>
            <p14:sldId id="261"/>
          </p14:sldIdLst>
        </p14:section>
        <p14:section name="Результаты" id="{c6b6aeed-5a05-05e2-36b1-d8d585e92b2b}">
          <p14:sldIdLst>
            <p14:sldId id="262"/>
            <p14:sldId id="263"/>
            <p14:sldId id="264"/>
          </p14:sldIdLst>
        </p14:section>
        <p14:section name="Итоги" id="{e6763628-c5ed-7197-2c55-18c05db708a7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Loss по шагам (скользящее среднее по 30 шагам)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>100</c:v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200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>300</c:v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>400</c:v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500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>600</c:v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>700</c:v>
                  </c:pt>
                  <c:pt idx="68">
                    <c:v/>
                  </c:pt>
                  <c:pt idx="69">
                    <c:v/>
                  </c:pt>
                </c:lvl>
              </c:multiLvlStrCache>
            </c:multiLvl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0.893</c:v>
                </c:pt>
                <c:pt idx="1">
                  <c:v>0.821</c:v>
                </c:pt>
                <c:pt idx="2">
                  <c:v>0.712</c:v>
                </c:pt>
                <c:pt idx="3">
                  <c:v>0.619</c:v>
                </c:pt>
                <c:pt idx="4">
                  <c:v>0.632</c:v>
                </c:pt>
                <c:pt idx="5">
                  <c:v>0.729</c:v>
                </c:pt>
                <c:pt idx="6">
                  <c:v>0.786</c:v>
                </c:pt>
                <c:pt idx="7">
                  <c:v>0.775</c:v>
                </c:pt>
                <c:pt idx="8">
                  <c:v>0.725</c:v>
                </c:pt>
                <c:pt idx="9">
                  <c:v>0.701</c:v>
                </c:pt>
                <c:pt idx="10">
                  <c:v>0.69</c:v>
                </c:pt>
                <c:pt idx="11">
                  <c:v>0.726</c:v>
                </c:pt>
                <c:pt idx="12">
                  <c:v>0.727</c:v>
                </c:pt>
                <c:pt idx="13">
                  <c:v>0.735</c:v>
                </c:pt>
                <c:pt idx="14">
                  <c:v>0.745</c:v>
                </c:pt>
                <c:pt idx="15">
                  <c:v>0.707</c:v>
                </c:pt>
                <c:pt idx="16">
                  <c:v>0.692</c:v>
                </c:pt>
                <c:pt idx="17">
                  <c:v>0.62</c:v>
                </c:pt>
                <c:pt idx="18">
                  <c:v>0.638</c:v>
                </c:pt>
                <c:pt idx="19">
                  <c:v>0.633</c:v>
                </c:pt>
                <c:pt idx="20">
                  <c:v>0.63</c:v>
                </c:pt>
                <c:pt idx="21">
                  <c:v>0.608</c:v>
                </c:pt>
                <c:pt idx="22">
                  <c:v>0.597</c:v>
                </c:pt>
                <c:pt idx="23">
                  <c:v>0.653</c:v>
                </c:pt>
                <c:pt idx="24">
                  <c:v>0.686</c:v>
                </c:pt>
                <c:pt idx="25">
                  <c:v>0.675</c:v>
                </c:pt>
                <c:pt idx="26">
                  <c:v>0.683</c:v>
                </c:pt>
                <c:pt idx="27">
                  <c:v>0.694</c:v>
                </c:pt>
                <c:pt idx="28">
                  <c:v>0.709</c:v>
                </c:pt>
                <c:pt idx="29">
                  <c:v>0.695</c:v>
                </c:pt>
                <c:pt idx="30">
                  <c:v>0.684</c:v>
                </c:pt>
                <c:pt idx="31">
                  <c:v>0.653</c:v>
                </c:pt>
                <c:pt idx="32">
                  <c:v>0.625</c:v>
                </c:pt>
                <c:pt idx="33">
                  <c:v>0.593</c:v>
                </c:pt>
                <c:pt idx="34">
                  <c:v>0.586</c:v>
                </c:pt>
                <c:pt idx="35">
                  <c:v>0.625</c:v>
                </c:pt>
                <c:pt idx="36">
                  <c:v>0.604</c:v>
                </c:pt>
                <c:pt idx="37">
                  <c:v>0.622</c:v>
                </c:pt>
                <c:pt idx="38">
                  <c:v>0.588</c:v>
                </c:pt>
                <c:pt idx="39">
                  <c:v>0.656</c:v>
                </c:pt>
                <c:pt idx="40">
                  <c:v>0.663</c:v>
                </c:pt>
                <c:pt idx="41">
                  <c:v>0.595</c:v>
                </c:pt>
                <c:pt idx="42">
                  <c:v>0.537</c:v>
                </c:pt>
                <c:pt idx="43">
                  <c:v>0.539</c:v>
                </c:pt>
                <c:pt idx="44">
                  <c:v>0.614</c:v>
                </c:pt>
                <c:pt idx="45">
                  <c:v>0.662</c:v>
                </c:pt>
                <c:pt idx="46">
                  <c:v>0.671</c:v>
                </c:pt>
                <c:pt idx="47">
                  <c:v>0.614</c:v>
                </c:pt>
                <c:pt idx="48">
                  <c:v>0.608</c:v>
                </c:pt>
                <c:pt idx="49">
                  <c:v>0.57</c:v>
                </c:pt>
                <c:pt idx="50">
                  <c:v>0.607</c:v>
                </c:pt>
                <c:pt idx="51">
                  <c:v>0.571</c:v>
                </c:pt>
                <c:pt idx="52">
                  <c:v>0.573</c:v>
                </c:pt>
                <c:pt idx="53">
                  <c:v>0.555</c:v>
                </c:pt>
                <c:pt idx="54">
                  <c:v>0.54</c:v>
                </c:pt>
                <c:pt idx="55">
                  <c:v>0.589</c:v>
                </c:pt>
                <c:pt idx="56">
                  <c:v>0.58</c:v>
                </c:pt>
                <c:pt idx="57">
                  <c:v>0.583</c:v>
                </c:pt>
                <c:pt idx="58">
                  <c:v>0.508</c:v>
                </c:pt>
                <c:pt idx="59">
                  <c:v>0.497</c:v>
                </c:pt>
                <c:pt idx="60">
                  <c:v>0.557</c:v>
                </c:pt>
                <c:pt idx="61">
                  <c:v>0.597</c:v>
                </c:pt>
                <c:pt idx="62">
                  <c:v>0.612</c:v>
                </c:pt>
                <c:pt idx="63">
                  <c:v>0.587</c:v>
                </c:pt>
                <c:pt idx="64">
                  <c:v>0.617</c:v>
                </c:pt>
                <c:pt idx="65">
                  <c:v>0.635</c:v>
                </c:pt>
                <c:pt idx="66">
                  <c:v>0.618</c:v>
                </c:pt>
                <c:pt idx="67">
                  <c:v>0.601</c:v>
                </c:pt>
                <c:pt idx="68">
                  <c:v>0.61</c:v>
                </c:pt>
                <c:pt idx="69">
                  <c:v>0.593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GQA-ru EM</c:v>
                </c:pt>
              </c:strCache>
            </c:strRef>
          </c:tx>
          <c:spPr>
            <a:solidFill>
              <a:srgbClr val="C3C2B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llava-1.6-mistral-7b</c:v>
                  </c:pt>
                  <c:pt idx="1">
                    <c:v>llava-1.5-7b</c:v>
                  </c:pt>
                  <c:pt idx="2">
                    <c:v>Qwen3-VL-2B (zero-shot)</c:v>
                  </c:pt>
                  <c:pt idx="3">
                    <c:v>deepvk/llava-gemma-2b</c:v>
                  </c:pt>
                  <c:pt idx="4">
                    <c:v>deepvk/llava-saiga-8b</c:v>
                  </c:pt>
                  <c:pt idx="5">
                    <c:v>Qwen3-VL-2B + LoRA (наша)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6.7</c:v>
                </c:pt>
                <c:pt idx="1">
                  <c:v>28.4</c:v>
                </c:pt>
                <c:pt idx="2">
                  <c:v>41.1</c:v>
                </c:pt>
                <c:pt idx="3">
                  <c:v>46.4</c:v>
                </c:pt>
                <c:pt idx="4">
                  <c:v>51.4</c:v>
                </c:pt>
                <c:pt idx="5">
                  <c:v>52.5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0B0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MMBench-ru</c:v>
                </c:pt>
              </c:strCache>
            </c:strRef>
          </c:tx>
          <c:spPr>
            <a:solidFill>
              <a:srgbClr val="C3C2B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deepvk/llava-gemma-2b</c:v>
                  </c:pt>
                  <c:pt idx="1">
                    <c:v>llava-1.6-mistral-7b</c:v>
                  </c:pt>
                  <c:pt idx="2">
                    <c:v>llava-1.5-7b</c:v>
                  </c:pt>
                  <c:pt idx="3">
                    <c:v>deepvk/llava-saiga-8b</c:v>
                  </c:pt>
                  <c:pt idx="4">
                    <c:v>Qwen3-VL-2B (zero-shot)</c:v>
                  </c:pt>
                  <c:pt idx="5">
                    <c:v>Qwen3-VL-2B + LoRA (наша)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40.2</c:v>
                </c:pt>
                <c:pt idx="1">
                  <c:v>48.8</c:v>
                </c:pt>
                <c:pt idx="2">
                  <c:v>52.3</c:v>
                </c:pt>
                <c:pt idx="3">
                  <c:v>56.7</c:v>
                </c:pt>
                <c:pt idx="4">
                  <c:v>66.5</c:v>
                </c:pt>
                <c:pt idx="5">
                  <c:v>68.7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0B0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трюк по памяти: логиты по словарю 152k считаются только на позициях ответа. Первый запуск без этого упал с OOM; на 90-м шаге пик памяти стал 6.6 ГБ вместо 7.8, скорость выросла вдвое (2.5 → 4.9 примера/с).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VLM на открытых данных VK · Засимов Георгий Алексеевич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Компактная русскоязычная VLM на открытых данных VK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Qwen3-VL-2B + LoRA, дообученная на GQA-ru и LLaVA-Instruct-ru на одной GPU 8 ГБ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3C2B7"/>
                </a:solidFill>
              </a:rPr>
              <a:t>Засимов Георгий Алексеевич · октябрь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компактная VLM на русском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</a:rPr>
              <a:t>Визуально-языковые модели отвечают на вопросы по изображениям в свободной форме. Сильные открытые VLM — это 7B+ параметров и серверные GPU, а на русском они часто заметно слабее.</a:t>
            </a:r>
            <a:endParaRPr lang="en-US" sz="1400" dirty="0"/>
          </a:p>
        </p:txBody>
      </p:sp>
      <p:sp>
        <p:nvSpPr>
          <p:cNvPr id="4" name="why-0"/>
          <p:cNvSpPr/>
          <p:nvPr/>
        </p:nvSpPr>
        <p:spPr>
          <a:xfrm>
            <a:off x="457200" y="2011680"/>
            <a:ext cx="2596896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Локально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Изображения не покидают устройство — важно для личных фото и закрытых данных</a:t>
            </a:r>
            <a:endParaRPr lang="en-US" sz="1300" dirty="0"/>
          </a:p>
        </p:txBody>
      </p:sp>
      <p:sp>
        <p:nvSpPr>
          <p:cNvPr id="7" name="why-1"/>
          <p:cNvSpPr/>
          <p:nvPr/>
        </p:nvSpPr>
        <p:spPr>
          <a:xfrm>
            <a:off x="3273552" y="2011680"/>
            <a:ext cx="2596896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2152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Дёшево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Обучение и инференс на потребительской видеокарте 8 ГБ, а не на кластере A100</a:t>
            </a:r>
            <a:endParaRPr lang="en-US" sz="1300" dirty="0"/>
          </a:p>
        </p:txBody>
      </p:sp>
      <p:sp>
        <p:nvSpPr>
          <p:cNvPr id="10" name="why-2"/>
          <p:cNvSpPr/>
          <p:nvPr/>
        </p:nvSpPr>
        <p:spPr>
          <a:xfrm>
            <a:off x="6089904" y="2011680"/>
            <a:ext cx="2596896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По-русски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Ответы в стиле и формате, которые ждут русскоязычные пользователи и бенчмарки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</a:rPr>
              <a:t>Сценарии: описание фото для незрячих, модерация и предразметка контента, атрибуты товаров по фото, ассистенты в приложениях.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3" name="goal"/>
          <p:cNvSpPr/>
          <p:nvPr/>
        </p:nvSpPr>
        <p:spPr>
          <a:xfrm>
            <a:off x="457200" y="1097280"/>
            <a:ext cx="329184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3C2B7"/>
                </a:solidFill>
              </a:rPr>
              <a:t>Цель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≤ 3B, которая на GQA-ru и MMBench-ru обгоняет открытые модели VK, обученная только на данных VK и одной GPU 8 ГБ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114800" y="11338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0" y="1133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109728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Изучить датасеты deepvk и протокол lmms-eval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0" y="16824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682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164592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Выбрать базовую модель, измерить zero-shot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0" y="223113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0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19456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Собрать смесь из данных VK + MC-аугментация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0" y="277977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274320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Дообучить LoRA в 8 ГБ видеопамяти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0" y="33284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14800" y="3328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29184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Оценить на GQA-ru и MMBench-ru, разобрать ошибки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0" y="38770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3877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384048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Демо, отчёт, презентация, код на GitHub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VK и обучающая смесь</a:t>
            </a:r>
            <a:endParaRPr lang="en-US" sz="3000" dirty="0"/>
          </a:p>
        </p:txBody>
      </p:sp>
      <p:sp>
        <p:nvSpPr>
          <p:cNvPr id="3" name="src-0"/>
          <p:cNvSpPr/>
          <p:nvPr/>
        </p:nvSpPr>
        <p:spPr>
          <a:xfrm>
            <a:off x="457200" y="1234440"/>
            <a:ext cx="23774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deepvk/GQA-ru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train: 40 000 вопросов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взято 6 000 картинок</a:t>
            </a:r>
            <a:endParaRPr lang="en-US" sz="1200" dirty="0"/>
          </a:p>
        </p:txBody>
      </p:sp>
      <p:sp>
        <p:nvSpPr>
          <p:cNvPr id="6" name="src-1"/>
          <p:cNvSpPr/>
          <p:nvPr/>
        </p:nvSpPr>
        <p:spPr>
          <a:xfrm>
            <a:off x="457200" y="2651760"/>
            <a:ext cx="23774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deepvk/LLaVA-Instruct-ru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144 тыс. диалогов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взято 800 коротких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097280"/>
            <a:ext cx="3246120" cy="804672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2070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8730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1188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короткий ответ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14813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</a:rPr>
              <a:t>вопрос + «Ответь одним словом.» → «на столе»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9000" y="2057400"/>
            <a:ext cx="3246120" cy="804672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67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2000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вопросы с вариантами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4414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</a:rPr>
              <a:t>4 варианта, дистракторы того же типа → «C»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3017520"/>
            <a:ext cx="3246120" cy="804672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66160" y="3127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развёрнутые диалоги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34015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</a:rPr>
              <a:t>чтобы модель не разучилась отвечать подробно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880360" y="1783080"/>
            <a:ext cx="502920" cy="-22860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80360" y="1783080"/>
            <a:ext cx="502920" cy="68580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880360" y="3200400"/>
            <a:ext cx="502920" cy="22860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20840" y="2468880"/>
            <a:ext cx="411480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5" name="train"/>
          <p:cNvSpPr/>
          <p:nvPr/>
        </p:nvSpPr>
        <p:spPr>
          <a:xfrm>
            <a:off x="7178040" y="1965960"/>
            <a:ext cx="150876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196596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LoRA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обучение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Бенчмарки GQA-ru testdev (12 216) и MMBench-ru dev (3 910) в обучении не участвуют; для контроля — hold-out из 300 картинок train.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Qwen3-VL-2B + LoRA</a:t>
            </a:r>
            <a:endParaRPr lang="en-US" sz="3000" dirty="0"/>
          </a:p>
        </p:txBody>
      </p:sp>
      <p:sp>
        <p:nvSpPr>
          <p:cNvPr id="3" name="arch-0"/>
          <p:cNvSpPr/>
          <p:nvPr/>
        </p:nvSpPr>
        <p:spPr>
          <a:xfrm>
            <a:off x="457200" y="1325880"/>
            <a:ext cx="1463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Изображение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38528" y="1755648"/>
            <a:ext cx="192024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6" name="arch-1"/>
          <p:cNvSpPr/>
          <p:nvPr/>
        </p:nvSpPr>
        <p:spPr>
          <a:xfrm>
            <a:off x="2148840" y="1325880"/>
            <a:ext cx="1463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3258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Визуальный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энкодер ViT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заморожен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30168" y="1755648"/>
            <a:ext cx="192024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9" name="arch-2"/>
          <p:cNvSpPr/>
          <p:nvPr/>
        </p:nvSpPr>
        <p:spPr>
          <a:xfrm>
            <a:off x="3840480" y="1325880"/>
            <a:ext cx="1463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3258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Проектор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заморожен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21808" y="1755648"/>
            <a:ext cx="192024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2" name="llm"/>
          <p:cNvSpPr/>
          <p:nvPr/>
        </p:nvSpPr>
        <p:spPr>
          <a:xfrm>
            <a:off x="5532120" y="109728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32120" y="109728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Языковая модель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 LoRA r = 16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обучается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70648" y="1755648"/>
            <a:ext cx="256032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772400" y="1554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Ответ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53212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Вопрос на русском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606040"/>
            <a:ext cx="0" cy="-155448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17.4 млн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обучаемых параметров (0.81%)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7355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196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3273552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визуальных токенов на картинку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89904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МБ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6089904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размер адаптера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 на ноутбучной GPU 8 ГБ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52160" y="1097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37.7 мин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одна эпоха, шагов оптимизатора: 721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7.34 ГБ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пик видеопамяти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3840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обучающих примеров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GQA-ru: ExactMatch на testdev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+11.4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920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п.п. к исходной модели после 38 мин обучения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697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+1.0 п.п. к llava-saiga-8b — модели в 4 раза больше, обученной на 8×A100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794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12 216 вопросов, без учёта регистра и пунктуации, как в lmms-eval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MMBench-ru: CircularEval на dev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68.7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920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CircularEval; без дообучения — 66.5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6974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+12.1 п.п. к llava-saiga-8b. Прирост к исходной модели — в основном формат: она в 6.0% случаев рассуждала вместо буквы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Верхняя граница исходной модели — 72.1: вывод «общие навыки не пострадали»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выучила модель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дообучения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Какого цвета дом, коричневый или белый?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коричневый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белый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коричневый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банан или груша?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груша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яблоко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груша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Какого размера кровать?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120х180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какой стороне фотографии находится молодой серфингист?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справа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справа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Какое животное сильное?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elephant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Исправлено 2227 ответов, испорчено 838. Два эффекта: исходная модель склонялась к «нет» (да/нет: 65.3 → 73.9) и отвечала не в форме датасета — «левая» вместо «слева» (открытые: 27.4 → 40.3).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Жизнеспособность модели</a:t>
            </a:r>
            <a:endParaRPr lang="en-US" sz="3000" dirty="0"/>
          </a:p>
        </p:txBody>
      </p:sp>
      <p:sp>
        <p:nvSpPr>
          <p:cNvPr id="3" name="live-0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ГБ + 70 МБ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базовая модель + адаптер; несколько адаптеров на одну базу</a:t>
            </a:r>
            <a:endParaRPr lang="en-US" sz="1300" dirty="0"/>
          </a:p>
        </p:txBody>
      </p:sp>
      <p:sp>
        <p:nvSpPr>
          <p:cNvPr id="6" name="live-1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34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4.66 ГБ VRAM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пик инференса: потребительская GPU, данные не уходят в облако</a:t>
            </a:r>
            <a:endParaRPr lang="en-US" sz="1300" dirty="0"/>
          </a:p>
        </p:txBody>
      </p:sp>
      <p:sp>
        <p:nvSpPr>
          <p:cNvPr id="9" name="live-2"/>
          <p:cNvSpPr/>
          <p:nvPr/>
        </p:nvSpPr>
        <p:spPr>
          <a:xfrm>
            <a:off x="457200" y="26974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0.21 с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короткий ответ; батчем — 13.8 вопроса/с, описание 128 токенов — 3.2 с</a:t>
            </a:r>
            <a:endParaRPr lang="en-US" sz="1300" dirty="0"/>
          </a:p>
        </p:txBody>
      </p:sp>
      <p:sp>
        <p:nvSpPr>
          <p:cNvPr id="12" name="live-3"/>
          <p:cNvSpPr/>
          <p:nvPr/>
        </p:nvSpPr>
        <p:spPr>
          <a:xfrm>
            <a:off x="4663440" y="26974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 мин vs дни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обучение на ноутбуке против 3–4 дней на 8×A100 у llava-saiga-8b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 и следующие шаги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Ограничения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Метрики VK взяты из карточек моделей; наш скрипт повторяет протокол lmms-eval, но это другая реализация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Прирост на GQA-ru — в основном калибровка «да/нет» и форма ответов; рост «понимания» картинок отдельно не мерили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 MMBench-ru нет обучающих данных: MC-аугментация из GQA не покрывает OCR и диаграммы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Один прогон без подбора гиперпараметров и абляций — из-за сроков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Дальше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46304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Весь GQA-ru train (40 тыс. вопросов) и больше LLaVA-Instruct-ru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Qwen3-VL-4B в 4-битной QLoRA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Абляции по доле MC-аугментации и разрешению картинок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Проверить модели VK тем же скриптом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GQA-ru 52.5 · MMBench-ru 68.7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2B-модель, дообученная на открытых данных VK за 38 мин на ноутбуке, обходит открытые модели VK на GQA-ru и MMBench-ru.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3C2B7"/>
                </a:solidFill>
              </a:rPr>
              <a:t>Код, адаптер, отчёт и демо: github.com/geozasimov/vk_vlm_project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 VLM">
  <a:themeElements>
    <a:clrScheme name="VK VLM">
      <a:dk1>
        <a:srgbClr val="0B0B0B"/>
      </a:dk1>
      <a:lt1>
        <a:srgbClr val="FFFFFF"/>
      </a:lt1>
      <a:dk2>
        <a:srgbClr val="14213D"/>
      </a:dk2>
      <a:lt2>
        <a:srgbClr val="EEF1F6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VK VL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Компактная русскоязычная VLM на открытых данных VK</dc:title>
  <dc:subject>PptxGenJS Presentation</dc:subject>
  <dc:creator>Засимов Георгий Алексеевич</dc:creator>
  <cp:lastModifiedBy>Засимов Георгий Алексеевич</cp:lastModifiedBy>
  <cp:revision>1</cp:revision>
  <dcterms:created xsi:type="dcterms:W3CDTF">2026-10-25T15:30:12Z</dcterms:created>
  <dcterms:modified xsi:type="dcterms:W3CDTF">2026-10-25T15:30:12Z</dcterms:modified>
</cp:coreProperties>
</file>