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2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3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Введение" id="{c717affc-0573-1a66-5aab-3ee6574ed550}">
          <p14:sldIdLst>
            <p14:sldId id="256"/>
            <p14:sldId id="257"/>
            <p14:sldId id="258"/>
          </p14:sldIdLst>
        </p14:section>
        <p14:section name="Метод" id="{049bdf07-732a-6c35-40a8-d420092ea7c8}">
          <p14:sldIdLst>
            <p14:sldId id="259"/>
            <p14:sldId id="260"/>
            <p14:sldId id="261"/>
          </p14:sldIdLst>
        </p14:section>
        <p14:section name="Результаты" id="{600518ed-c3ff-cb2d-a671-e583abacc458}">
          <p14:sldIdLst>
            <p14:sldId id="262"/>
            <p14:sldId id="263"/>
            <p14:sldId id="264"/>
          </p14:sldIdLst>
        </p14:section>
        <p14:section name="Итоги" id="{707f6f3d-3a1b-7419-6f31-a1ae7bdfe8e4}">
          <p14:sldIdLst>
            <p14:sldId id="265"/>
            <p14:sldId id="266"/>
            <p14:sldId id="26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52514E"/>
                </a:solidFill>
                <a:latin typeface="+mn-lt"/>
              </a:defRPr>
            </a:pPr>
            <a:r>
              <a:rPr sz="1200" b="0" i="0" u="none" strike="noStrike">
                <a:solidFill>
                  <a:srgbClr val="52514E"/>
                </a:solidFill>
                <a:latin typeface="+mn-lt"/>
              </a:rPr>
              <a:t>Loss по шагам (скользящее среднее по 30 шагам)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loss</c:v>
                </c:pt>
              </c:strCache>
            </c:strRef>
          </c:tx>
          <c:spPr>
            <a:solidFill>
              <a:srgbClr val="2A78D6"/>
            </a:solidFill>
            <a:ln w="25400" cap="flat">
              <a:solidFill>
                <a:srgbClr val="2A78D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2A78D6"/>
              </a:solidFill>
              <a:ln w="9525" cap="flat">
                <a:solidFill>
                  <a:srgbClr val="2A78D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Sheet1!$A$2:$A$71</c:f>
              <c:multiLvlStrCache>
                <c:ptCount val="70"/>
                <c:lvl>
                  <c:pt idx="0">
                    <c:v/>
                  </c:pt>
                  <c:pt idx="1">
                    <c:v/>
                  </c:pt>
                  <c:pt idx="2">
                    <c:v/>
                  </c:pt>
                  <c:pt idx="3">
                    <c:v/>
                  </c:pt>
                  <c:pt idx="4">
                    <c:v/>
                  </c:pt>
                  <c:pt idx="5">
                    <c:v/>
                  </c:pt>
                  <c:pt idx="6">
                    <c:v/>
                  </c:pt>
                  <c:pt idx="7">
                    <c:v>100</c:v>
                  </c:pt>
                  <c:pt idx="8">
                    <c:v/>
                  </c:pt>
                  <c:pt idx="9">
                    <c:v/>
                  </c:pt>
                  <c:pt idx="10">
                    <c:v/>
                  </c:pt>
                  <c:pt idx="11">
                    <c:v/>
                  </c:pt>
                  <c:pt idx="12">
                    <c:v/>
                  </c:pt>
                  <c:pt idx="13">
                    <c:v/>
                  </c:pt>
                  <c:pt idx="14">
                    <c:v/>
                  </c:pt>
                  <c:pt idx="15">
                    <c:v/>
                  </c:pt>
                  <c:pt idx="16">
                    <c:v/>
                  </c:pt>
                  <c:pt idx="17">
                    <c:v>200</c:v>
                  </c:pt>
                  <c:pt idx="18">
                    <c:v/>
                  </c:pt>
                  <c:pt idx="19">
                    <c:v/>
                  </c:pt>
                  <c:pt idx="20">
                    <c:v/>
                  </c:pt>
                  <c:pt idx="21">
                    <c:v/>
                  </c:pt>
                  <c:pt idx="22">
                    <c:v/>
                  </c:pt>
                  <c:pt idx="23">
                    <c:v/>
                  </c:pt>
                  <c:pt idx="24">
                    <c:v/>
                  </c:pt>
                  <c:pt idx="25">
                    <c:v/>
                  </c:pt>
                  <c:pt idx="26">
                    <c:v/>
                  </c:pt>
                  <c:pt idx="27">
                    <c:v>300</c:v>
                  </c:pt>
                  <c:pt idx="28">
                    <c:v/>
                  </c:pt>
                  <c:pt idx="29">
                    <c:v/>
                  </c:pt>
                  <c:pt idx="30">
                    <c:v/>
                  </c:pt>
                  <c:pt idx="31">
                    <c:v/>
                  </c:pt>
                  <c:pt idx="32">
                    <c:v/>
                  </c:pt>
                  <c:pt idx="33">
                    <c:v/>
                  </c:pt>
                  <c:pt idx="34">
                    <c:v/>
                  </c:pt>
                  <c:pt idx="35">
                    <c:v/>
                  </c:pt>
                  <c:pt idx="36">
                    <c:v/>
                  </c:pt>
                  <c:pt idx="37">
                    <c:v>400</c:v>
                  </c:pt>
                  <c:pt idx="38">
                    <c:v/>
                  </c:pt>
                  <c:pt idx="39">
                    <c:v/>
                  </c:pt>
                  <c:pt idx="40">
                    <c:v/>
                  </c:pt>
                  <c:pt idx="41">
                    <c:v/>
                  </c:pt>
                  <c:pt idx="42">
                    <c:v/>
                  </c:pt>
                  <c:pt idx="43">
                    <c:v/>
                  </c:pt>
                  <c:pt idx="44">
                    <c:v/>
                  </c:pt>
                  <c:pt idx="45">
                    <c:v/>
                  </c:pt>
                  <c:pt idx="46">
                    <c:v/>
                  </c:pt>
                  <c:pt idx="47">
                    <c:v>500</c:v>
                  </c:pt>
                  <c:pt idx="48">
                    <c:v/>
                  </c:pt>
                  <c:pt idx="49">
                    <c:v/>
                  </c:pt>
                  <c:pt idx="50">
                    <c:v/>
                  </c:pt>
                  <c:pt idx="51">
                    <c:v/>
                  </c:pt>
                  <c:pt idx="52">
                    <c:v/>
                  </c:pt>
                  <c:pt idx="53">
                    <c:v/>
                  </c:pt>
                  <c:pt idx="54">
                    <c:v/>
                  </c:pt>
                  <c:pt idx="55">
                    <c:v/>
                  </c:pt>
                  <c:pt idx="56">
                    <c:v/>
                  </c:pt>
                  <c:pt idx="57">
                    <c:v>600</c:v>
                  </c:pt>
                  <c:pt idx="58">
                    <c:v/>
                  </c:pt>
                  <c:pt idx="59">
                    <c:v/>
                  </c:pt>
                  <c:pt idx="60">
                    <c:v/>
                  </c:pt>
                  <c:pt idx="61">
                    <c:v/>
                  </c:pt>
                  <c:pt idx="62">
                    <c:v/>
                  </c:pt>
                  <c:pt idx="63">
                    <c:v/>
                  </c:pt>
                  <c:pt idx="64">
                    <c:v/>
                  </c:pt>
                  <c:pt idx="65">
                    <c:v/>
                  </c:pt>
                  <c:pt idx="66">
                    <c:v/>
                  </c:pt>
                  <c:pt idx="67">
                    <c:v>700</c:v>
                  </c:pt>
                  <c:pt idx="68">
                    <c:v/>
                  </c:pt>
                  <c:pt idx="69">
                    <c:v/>
                  </c:pt>
                </c:lvl>
              </c:multiLvlStrCache>
            </c:multiLvlStrRef>
          </c:cat>
          <c:val>
            <c:numRef>
              <c:f>Sheet1!$B$2:$B$71</c:f>
              <c:numCache>
                <c:formatCode>General</c:formatCode>
                <c:ptCount val="70"/>
                <c:pt idx="0">
                  <c:v>0.893</c:v>
                </c:pt>
                <c:pt idx="1">
                  <c:v>0.821</c:v>
                </c:pt>
                <c:pt idx="2">
                  <c:v>0.712</c:v>
                </c:pt>
                <c:pt idx="3">
                  <c:v>0.619</c:v>
                </c:pt>
                <c:pt idx="4">
                  <c:v>0.632</c:v>
                </c:pt>
                <c:pt idx="5">
                  <c:v>0.729</c:v>
                </c:pt>
                <c:pt idx="6">
                  <c:v>0.786</c:v>
                </c:pt>
                <c:pt idx="7">
                  <c:v>0.775</c:v>
                </c:pt>
                <c:pt idx="8">
                  <c:v>0.725</c:v>
                </c:pt>
                <c:pt idx="9">
                  <c:v>0.701</c:v>
                </c:pt>
                <c:pt idx="10">
                  <c:v>0.69</c:v>
                </c:pt>
                <c:pt idx="11">
                  <c:v>0.726</c:v>
                </c:pt>
                <c:pt idx="12">
                  <c:v>0.727</c:v>
                </c:pt>
                <c:pt idx="13">
                  <c:v>0.735</c:v>
                </c:pt>
                <c:pt idx="14">
                  <c:v>0.745</c:v>
                </c:pt>
                <c:pt idx="15">
                  <c:v>0.707</c:v>
                </c:pt>
                <c:pt idx="16">
                  <c:v>0.692</c:v>
                </c:pt>
                <c:pt idx="17">
                  <c:v>0.62</c:v>
                </c:pt>
                <c:pt idx="18">
                  <c:v>0.638</c:v>
                </c:pt>
                <c:pt idx="19">
                  <c:v>0.633</c:v>
                </c:pt>
                <c:pt idx="20">
                  <c:v>0.63</c:v>
                </c:pt>
                <c:pt idx="21">
                  <c:v>0.608</c:v>
                </c:pt>
                <c:pt idx="22">
                  <c:v>0.597</c:v>
                </c:pt>
                <c:pt idx="23">
                  <c:v>0.653</c:v>
                </c:pt>
                <c:pt idx="24">
                  <c:v>0.686</c:v>
                </c:pt>
                <c:pt idx="25">
                  <c:v>0.675</c:v>
                </c:pt>
                <c:pt idx="26">
                  <c:v>0.683</c:v>
                </c:pt>
                <c:pt idx="27">
                  <c:v>0.694</c:v>
                </c:pt>
                <c:pt idx="28">
                  <c:v>0.709</c:v>
                </c:pt>
                <c:pt idx="29">
                  <c:v>0.695</c:v>
                </c:pt>
                <c:pt idx="30">
                  <c:v>0.684</c:v>
                </c:pt>
                <c:pt idx="31">
                  <c:v>0.653</c:v>
                </c:pt>
                <c:pt idx="32">
                  <c:v>0.625</c:v>
                </c:pt>
                <c:pt idx="33">
                  <c:v>0.593</c:v>
                </c:pt>
                <c:pt idx="34">
                  <c:v>0.586</c:v>
                </c:pt>
                <c:pt idx="35">
                  <c:v>0.625</c:v>
                </c:pt>
                <c:pt idx="36">
                  <c:v>0.604</c:v>
                </c:pt>
                <c:pt idx="37">
                  <c:v>0.622</c:v>
                </c:pt>
                <c:pt idx="38">
                  <c:v>0.588</c:v>
                </c:pt>
                <c:pt idx="39">
                  <c:v>0.656</c:v>
                </c:pt>
                <c:pt idx="40">
                  <c:v>0.663</c:v>
                </c:pt>
                <c:pt idx="41">
                  <c:v>0.595</c:v>
                </c:pt>
                <c:pt idx="42">
                  <c:v>0.537</c:v>
                </c:pt>
                <c:pt idx="43">
                  <c:v>0.539</c:v>
                </c:pt>
                <c:pt idx="44">
                  <c:v>0.614</c:v>
                </c:pt>
                <c:pt idx="45">
                  <c:v>0.662</c:v>
                </c:pt>
                <c:pt idx="46">
                  <c:v>0.671</c:v>
                </c:pt>
                <c:pt idx="47">
                  <c:v>0.614</c:v>
                </c:pt>
                <c:pt idx="48">
                  <c:v>0.608</c:v>
                </c:pt>
                <c:pt idx="49">
                  <c:v>0.57</c:v>
                </c:pt>
                <c:pt idx="50">
                  <c:v>0.607</c:v>
                </c:pt>
                <c:pt idx="51">
                  <c:v>0.571</c:v>
                </c:pt>
                <c:pt idx="52">
                  <c:v>0.573</c:v>
                </c:pt>
                <c:pt idx="53">
                  <c:v>0.555</c:v>
                </c:pt>
                <c:pt idx="54">
                  <c:v>0.54</c:v>
                </c:pt>
                <c:pt idx="55">
                  <c:v>0.589</c:v>
                </c:pt>
                <c:pt idx="56">
                  <c:v>0.58</c:v>
                </c:pt>
                <c:pt idx="57">
                  <c:v>0.583</c:v>
                </c:pt>
                <c:pt idx="58">
                  <c:v>0.508</c:v>
                </c:pt>
                <c:pt idx="59">
                  <c:v>0.497</c:v>
                </c:pt>
                <c:pt idx="60">
                  <c:v>0.557</c:v>
                </c:pt>
                <c:pt idx="61">
                  <c:v>0.597</c:v>
                </c:pt>
                <c:pt idx="62">
                  <c:v>0.612</c:v>
                </c:pt>
                <c:pt idx="63">
                  <c:v>0.587</c:v>
                </c:pt>
                <c:pt idx="64">
                  <c:v>0.617</c:v>
                </c:pt>
                <c:pt idx="65">
                  <c:v>0.635</c:v>
                </c:pt>
                <c:pt idx="66">
                  <c:v>0.618</c:v>
                </c:pt>
                <c:pt idx="67">
                  <c:v>0.601</c:v>
                </c:pt>
                <c:pt idx="68">
                  <c:v>0.61</c:v>
                </c:pt>
                <c:pt idx="69">
                  <c:v>0.593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898781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9525" cap="flat">
              <a:solidFill>
                <a:srgbClr val="E1E0D9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898781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GQA-ru EM</c:v>
                </c:pt>
              </c:strCache>
            </c:strRef>
          </c:tx>
          <c:spPr>
            <a:solidFill>
              <a:srgbClr val="C3C2B7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0B0B0B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C3C2B7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C3C2B7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EB6834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C3C2B7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C3C2B7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2A78D6"/>
              </a:solidFill>
              <a:effectLst/>
            </c:spPr>
          </c:dPt>
          <c:cat>
            <c:multiLvlStrRef>
              <c:f>Sheet1!$A$2:$A$7</c:f>
              <c:multiLvlStrCache>
                <c:ptCount val="6"/>
                <c:lvl>
                  <c:pt idx="0">
                    <c:v>llava-1.6-mistral-7b</c:v>
                  </c:pt>
                  <c:pt idx="1">
                    <c:v>llava-1.5-7b</c:v>
                  </c:pt>
                  <c:pt idx="2">
                    <c:v>Qwen3-VL-2B (zero-shot)</c:v>
                  </c:pt>
                  <c:pt idx="3">
                    <c:v>deepvk/llava-gemma-2b</c:v>
                  </c:pt>
                  <c:pt idx="4">
                    <c:v>deepvk/llava-saiga-8b</c:v>
                  </c:pt>
                  <c:pt idx="5">
                    <c:v>Qwen3-VL-2B + LoRA (наша)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6.7</c:v>
                </c:pt>
                <c:pt idx="1">
                  <c:v>28.4</c:v>
                </c:pt>
                <c:pt idx="2">
                  <c:v>41.1</c:v>
                </c:pt>
                <c:pt idx="3">
                  <c:v>46.4</c:v>
                </c:pt>
                <c:pt idx="4">
                  <c:v>51.4</c:v>
                </c:pt>
                <c:pt idx="5">
                  <c:v>52.5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100" u="none">
                  <a:solidFill>
                    <a:srgbClr val="0B0B0B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B0B0B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62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MMBench-ru</c:v>
                </c:pt>
              </c:strCache>
            </c:strRef>
          </c:tx>
          <c:spPr>
            <a:solidFill>
              <a:srgbClr val="C3C2B7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0B0B0B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C3C2B7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C3C2B7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C3C2B7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C3C2B7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EB6834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2A78D6"/>
              </a:solidFill>
              <a:effectLst/>
            </c:spPr>
          </c:dPt>
          <c:cat>
            <c:multiLvlStrRef>
              <c:f>Sheet1!$A$2:$A$7</c:f>
              <c:multiLvlStrCache>
                <c:ptCount val="6"/>
                <c:lvl>
                  <c:pt idx="0">
                    <c:v>deepvk/llava-gemma-2b</c:v>
                  </c:pt>
                  <c:pt idx="1">
                    <c:v>llava-1.6-mistral-7b</c:v>
                  </c:pt>
                  <c:pt idx="2">
                    <c:v>llava-1.5-7b</c:v>
                  </c:pt>
                  <c:pt idx="3">
                    <c:v>deepvk/llava-saiga-8b</c:v>
                  </c:pt>
                  <c:pt idx="4">
                    <c:v>Qwen3-VL-2B (zero-shot)</c:v>
                  </c:pt>
                  <c:pt idx="5">
                    <c:v>Qwen3-VL-2B + LoRA (наша)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40.2</c:v>
                </c:pt>
                <c:pt idx="1">
                  <c:v>48.8</c:v>
                </c:pt>
                <c:pt idx="2">
                  <c:v>52.3</c:v>
                </c:pt>
                <c:pt idx="3">
                  <c:v>56.7</c:v>
                </c:pt>
                <c:pt idx="4">
                  <c:v>65.7</c:v>
                </c:pt>
                <c:pt idx="5">
                  <c:v>68.7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100" u="none">
                  <a:solidFill>
                    <a:srgbClr val="0B0B0B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B0B0B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2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Ключевой трюк по памяти: логиты по словарю 152k считаются только на позициях ответа. Пик памяти упал с 7.8 до 6.4 ГБ, скорость выросла вдвое.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234440"/>
            <a:ext cx="804672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926080"/>
            <a:ext cx="804672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600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3" name="Text 0"/>
          <p:cNvSpPr/>
          <p:nvPr/>
        </p:nvSpPr>
        <p:spPr>
          <a:xfrm>
            <a:off x="457200" y="47548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98781"/>
                </a:solidFill>
              </a:rPr>
              <a:t>VLM на открытых данных VK · Засимов Георгий Алексеевич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9878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9878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234440"/>
            <a:ext cx="8046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Компактная русскоязычная VLM на открытых данных VK</a:t>
            </a:r>
            <a:endParaRPr lang="en-US" sz="3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926080"/>
            <a:ext cx="8046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Qwen3-VL-2B + LoRA, дообученная на GQA-ru и LLaVA-Instruct-ru на одной GPU 8 ГБ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 </a:t>
            </a:r>
            <a:endParaRPr lang="en-US" sz="16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C3C2B7"/>
                </a:solidFill>
              </a:rPr>
              <a:t>Засимов Георгий Алексеевич · октябрь 2026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Зачем компактная VLM на русском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9728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2514E"/>
                </a:solidFill>
              </a:rPr>
              <a:t>Визуально-языковые модели отвечают на вопросы по изображениям в свободной форме. Сильные открытые VLM — это 7B+ параметров и серверные GPU, а на русском они часто заметно слабее.</a:t>
            </a:r>
            <a:endParaRPr lang="en-US" sz="1400" dirty="0"/>
          </a:p>
        </p:txBody>
      </p:sp>
      <p:sp>
        <p:nvSpPr>
          <p:cNvPr id="4" name="why-0"/>
          <p:cNvSpPr/>
          <p:nvPr/>
        </p:nvSpPr>
        <p:spPr>
          <a:xfrm>
            <a:off x="457200" y="2011680"/>
            <a:ext cx="2596896" cy="1508760"/>
          </a:xfrm>
          <a:prstGeom prst="roundRect">
            <a:avLst>
              <a:gd name="adj" fmla="val 484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21945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Локально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606040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Изображения не покидают устройство — важно для личных фото и закрытых данных</a:t>
            </a:r>
            <a:endParaRPr lang="en-US" sz="1300" dirty="0"/>
          </a:p>
        </p:txBody>
      </p:sp>
      <p:sp>
        <p:nvSpPr>
          <p:cNvPr id="7" name="why-1"/>
          <p:cNvSpPr/>
          <p:nvPr/>
        </p:nvSpPr>
        <p:spPr>
          <a:xfrm>
            <a:off x="3273552" y="2011680"/>
            <a:ext cx="2596896" cy="1508760"/>
          </a:xfrm>
          <a:prstGeom prst="roundRect">
            <a:avLst>
              <a:gd name="adj" fmla="val 484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502152" y="21945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Дёшево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3502152" y="2606040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Обучение и инференс на потребительской видеокарте 8 ГБ, а не на кластере A100</a:t>
            </a:r>
            <a:endParaRPr lang="en-US" sz="1300" dirty="0"/>
          </a:p>
        </p:txBody>
      </p:sp>
      <p:sp>
        <p:nvSpPr>
          <p:cNvPr id="10" name="why-2"/>
          <p:cNvSpPr/>
          <p:nvPr/>
        </p:nvSpPr>
        <p:spPr>
          <a:xfrm>
            <a:off x="6089904" y="2011680"/>
            <a:ext cx="2596896" cy="1508760"/>
          </a:xfrm>
          <a:prstGeom prst="roundRect">
            <a:avLst>
              <a:gd name="adj" fmla="val 484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318504" y="21945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По-русски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6318504" y="2606040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Ответы в стиле и формате, которые ждут русскоязычные пользователи и бенчмарки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3794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2514E"/>
                </a:solidFill>
              </a:rPr>
              <a:t>Сценарии: описание фото для незрячих, модерация и предразметка контента, атрибуты товаров по фото, ассистенты в приложениях.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9878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Цель и задачи</a:t>
            </a:r>
            <a:endParaRPr lang="en-US" sz="3000" dirty="0"/>
          </a:p>
        </p:txBody>
      </p:sp>
      <p:sp>
        <p:nvSpPr>
          <p:cNvPr id="3" name="goal"/>
          <p:cNvSpPr/>
          <p:nvPr/>
        </p:nvSpPr>
        <p:spPr>
          <a:xfrm>
            <a:off x="457200" y="1097280"/>
            <a:ext cx="3291840" cy="3291840"/>
          </a:xfrm>
          <a:prstGeom prst="roundRect">
            <a:avLst>
              <a:gd name="adj" fmla="val 2222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128016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C3C2B7"/>
                </a:solidFill>
              </a:rPr>
              <a:t>Цель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691640"/>
            <a:ext cx="283464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Модель ≤ 3B, которая на GQA-ru и MMBench-ru обгоняет открытые модели VK, обученная только на данных VK и одной GPU 8 ГБ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114800" y="1133856"/>
            <a:ext cx="347472" cy="34747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114800" y="113385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4617720" y="1097280"/>
            <a:ext cx="4069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Изучить датасеты deepvk и протокол lmms-eval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114800" y="1682496"/>
            <a:ext cx="347472" cy="34747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114800" y="168249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4617720" y="1645920"/>
            <a:ext cx="4069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Выбрать базовую модель, измерить zero-shot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114800" y="2231136"/>
            <a:ext cx="347472" cy="34747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114800" y="223113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4617720" y="2194560"/>
            <a:ext cx="4069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Собрать смесь из данных VK + MC-аугментация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114800" y="2779776"/>
            <a:ext cx="347472" cy="34747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114800" y="277977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4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4617720" y="2743200"/>
            <a:ext cx="4069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Дообучить LoRA в 8 ГБ видеопамяти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114800" y="3328416"/>
            <a:ext cx="347472" cy="34747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114800" y="332841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5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4617720" y="3291840"/>
            <a:ext cx="4069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Оценить на GQA-ru и MMBench-ru, разобрать ошибки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114800" y="3877056"/>
            <a:ext cx="347472" cy="34747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114800" y="387705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6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4617720" y="3840480"/>
            <a:ext cx="4069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Демо, отчёт, презентация, код на GitHub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9878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Данные VK и обучающая смесь</a:t>
            </a:r>
            <a:endParaRPr lang="en-US" sz="3000" dirty="0"/>
          </a:p>
        </p:txBody>
      </p:sp>
      <p:sp>
        <p:nvSpPr>
          <p:cNvPr id="3" name="src-0"/>
          <p:cNvSpPr/>
          <p:nvPr/>
        </p:nvSpPr>
        <p:spPr>
          <a:xfrm>
            <a:off x="457200" y="1234440"/>
            <a:ext cx="2377440" cy="1143000"/>
          </a:xfrm>
          <a:prstGeom prst="roundRect">
            <a:avLst>
              <a:gd name="adj" fmla="val 64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37160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deepvk/GQA-ru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69164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2514E"/>
                </a:solidFill>
              </a:rPr>
              <a:t>train: 40 000 вопросов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2514E"/>
                </a:solidFill>
              </a:rPr>
              <a:t>взято 6 000 картинок</a:t>
            </a:r>
            <a:endParaRPr lang="en-US" sz="1200" dirty="0"/>
          </a:p>
        </p:txBody>
      </p:sp>
      <p:sp>
        <p:nvSpPr>
          <p:cNvPr id="6" name="src-1"/>
          <p:cNvSpPr/>
          <p:nvPr/>
        </p:nvSpPr>
        <p:spPr>
          <a:xfrm>
            <a:off x="457200" y="2651760"/>
            <a:ext cx="2377440" cy="1143000"/>
          </a:xfrm>
          <a:prstGeom prst="roundRect">
            <a:avLst>
              <a:gd name="adj" fmla="val 64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278892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deepvk/LLaVA-Instruct-ru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310896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2514E"/>
                </a:solidFill>
              </a:rPr>
              <a:t>144 тыс. диалогов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2514E"/>
                </a:solidFill>
              </a:rPr>
              <a:t>взято 800 коротких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429000" y="1097280"/>
            <a:ext cx="3246120" cy="804672"/>
          </a:xfrm>
          <a:prstGeom prst="roundRect">
            <a:avLst>
              <a:gd name="adj" fmla="val 9091"/>
            </a:avLst>
          </a:prstGeom>
          <a:solidFill>
            <a:schemeClr val="bg1"/>
          </a:solidFill>
          <a:ln w="12700">
            <a:solidFill>
              <a:srgbClr val="E1E0D9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566160" y="1207008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8730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4526280" y="11887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короткий ответ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4526280" y="1481328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2514E"/>
                </a:solidFill>
              </a:rPr>
              <a:t>вопрос + «Ответь одним словом.» → «на столе»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429000" y="2057400"/>
            <a:ext cx="3246120" cy="804672"/>
          </a:xfrm>
          <a:prstGeom prst="roundRect">
            <a:avLst>
              <a:gd name="adj" fmla="val 9091"/>
            </a:avLst>
          </a:prstGeom>
          <a:solidFill>
            <a:schemeClr val="bg1"/>
          </a:solidFill>
          <a:ln w="12700">
            <a:solidFill>
              <a:srgbClr val="E1E0D9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566160" y="2167128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2000</a:t>
            </a:r>
            <a:endParaRPr lang="en-US" sz="2200" dirty="0"/>
          </a:p>
        </p:txBody>
      </p:sp>
      <p:sp>
        <p:nvSpPr>
          <p:cNvPr id="15" name="Text 13"/>
          <p:cNvSpPr txBox="1"/>
          <p:nvPr/>
        </p:nvSpPr>
        <p:spPr>
          <a:xfrm>
            <a:off x="4526280" y="214884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вопросы с вариантами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4526280" y="2441448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2514E"/>
                </a:solidFill>
              </a:rPr>
              <a:t>4 варианта, дистракторы того же типа → «C»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429000" y="3017520"/>
            <a:ext cx="3246120" cy="804672"/>
          </a:xfrm>
          <a:prstGeom prst="roundRect">
            <a:avLst>
              <a:gd name="adj" fmla="val 9091"/>
            </a:avLst>
          </a:prstGeom>
          <a:solidFill>
            <a:schemeClr val="bg1"/>
          </a:solidFill>
          <a:ln w="12700">
            <a:solidFill>
              <a:srgbClr val="E1E0D9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3566160" y="3127248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800</a:t>
            </a:r>
            <a:endParaRPr lang="en-US" sz="2200" dirty="0"/>
          </a:p>
        </p:txBody>
      </p:sp>
      <p:sp>
        <p:nvSpPr>
          <p:cNvPr id="19" name="Text 17"/>
          <p:cNvSpPr txBox="1"/>
          <p:nvPr/>
        </p:nvSpPr>
        <p:spPr>
          <a:xfrm>
            <a:off x="4526280" y="310896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развёрнутые диалоги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4526280" y="3401568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2514E"/>
                </a:solidFill>
              </a:rPr>
              <a:t>чтобы модель не разучилась отвечать подробно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880360" y="1783080"/>
            <a:ext cx="502920" cy="-228600"/>
          </a:xfrm>
          <a:prstGeom prst="line">
            <a:avLst/>
          </a:prstGeom>
          <a:noFill/>
          <a:ln w="19050">
            <a:solidFill>
              <a:srgbClr val="898781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2880360" y="1783080"/>
            <a:ext cx="502920" cy="685800"/>
          </a:xfrm>
          <a:prstGeom prst="line">
            <a:avLst/>
          </a:prstGeom>
          <a:noFill/>
          <a:ln w="19050">
            <a:solidFill>
              <a:srgbClr val="898781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2880360" y="3200400"/>
            <a:ext cx="502920" cy="228600"/>
          </a:xfrm>
          <a:prstGeom prst="line">
            <a:avLst/>
          </a:prstGeom>
          <a:noFill/>
          <a:ln w="19050">
            <a:solidFill>
              <a:srgbClr val="898781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6720840" y="2468880"/>
            <a:ext cx="411480" cy="0"/>
          </a:xfrm>
          <a:prstGeom prst="line">
            <a:avLst/>
          </a:prstGeom>
          <a:noFill/>
          <a:ln w="19050">
            <a:solidFill>
              <a:srgbClr val="898781"/>
            </a:solidFill>
            <a:prstDash val="solid"/>
            <a:tailEnd type="triangle"/>
          </a:ln>
        </p:spPr>
      </p:sp>
      <p:sp>
        <p:nvSpPr>
          <p:cNvPr id="25" name="train"/>
          <p:cNvSpPr/>
          <p:nvPr/>
        </p:nvSpPr>
        <p:spPr>
          <a:xfrm>
            <a:off x="7178040" y="1965960"/>
            <a:ext cx="1508760" cy="1005840"/>
          </a:xfrm>
          <a:prstGeom prst="roundRect">
            <a:avLst>
              <a:gd name="adj" fmla="val 7273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178040" y="1965960"/>
            <a:ext cx="1508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LoRA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обучение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457200" y="40690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2514E"/>
                </a:solidFill>
              </a:rPr>
              <a:t>Бенчмарки GQA-ru testdev (12 216) и MMBench-ru dev (3 910) в обучении не участвуют; для контроля — hold-out из 300 картинок train.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9878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Qwen3-VL-2B + LoRA</a:t>
            </a:r>
            <a:endParaRPr lang="en-US" sz="3000" dirty="0"/>
          </a:p>
        </p:txBody>
      </p:sp>
      <p:sp>
        <p:nvSpPr>
          <p:cNvPr id="3" name="arch-0"/>
          <p:cNvSpPr/>
          <p:nvPr/>
        </p:nvSpPr>
        <p:spPr>
          <a:xfrm>
            <a:off x="457200" y="1325880"/>
            <a:ext cx="1463040" cy="868680"/>
          </a:xfrm>
          <a:prstGeom prst="roundRect">
            <a:avLst>
              <a:gd name="adj" fmla="val 842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325880"/>
            <a:ext cx="1463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Изображение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938528" y="1755648"/>
            <a:ext cx="192024" cy="0"/>
          </a:xfrm>
          <a:prstGeom prst="line">
            <a:avLst/>
          </a:prstGeom>
          <a:noFill/>
          <a:ln w="19050">
            <a:solidFill>
              <a:srgbClr val="898781"/>
            </a:solidFill>
            <a:prstDash val="solid"/>
            <a:tailEnd type="triangle"/>
          </a:ln>
        </p:spPr>
      </p:sp>
      <p:sp>
        <p:nvSpPr>
          <p:cNvPr id="6" name="arch-1"/>
          <p:cNvSpPr/>
          <p:nvPr/>
        </p:nvSpPr>
        <p:spPr>
          <a:xfrm>
            <a:off x="2148840" y="1325880"/>
            <a:ext cx="1463040" cy="868680"/>
          </a:xfrm>
          <a:prstGeom prst="roundRect">
            <a:avLst>
              <a:gd name="adj" fmla="val 842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148840" y="1325880"/>
            <a:ext cx="1463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Визуальный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энкодер ViT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заморожен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30168" y="1755648"/>
            <a:ext cx="192024" cy="0"/>
          </a:xfrm>
          <a:prstGeom prst="line">
            <a:avLst/>
          </a:prstGeom>
          <a:noFill/>
          <a:ln w="19050">
            <a:solidFill>
              <a:srgbClr val="898781"/>
            </a:solidFill>
            <a:prstDash val="solid"/>
            <a:tailEnd type="triangle"/>
          </a:ln>
        </p:spPr>
      </p:sp>
      <p:sp>
        <p:nvSpPr>
          <p:cNvPr id="9" name="arch-2"/>
          <p:cNvSpPr/>
          <p:nvPr/>
        </p:nvSpPr>
        <p:spPr>
          <a:xfrm>
            <a:off x="3840480" y="1325880"/>
            <a:ext cx="1463040" cy="868680"/>
          </a:xfrm>
          <a:prstGeom prst="roundRect">
            <a:avLst>
              <a:gd name="adj" fmla="val 842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840480" y="1325880"/>
            <a:ext cx="1463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Проектор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заморожен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321808" y="1755648"/>
            <a:ext cx="192024" cy="0"/>
          </a:xfrm>
          <a:prstGeom prst="line">
            <a:avLst/>
          </a:prstGeom>
          <a:noFill/>
          <a:ln w="19050">
            <a:solidFill>
              <a:srgbClr val="898781"/>
            </a:solidFill>
            <a:prstDash val="solid"/>
            <a:tailEnd type="triangle"/>
          </a:ln>
        </p:spPr>
      </p:sp>
      <p:sp>
        <p:nvSpPr>
          <p:cNvPr id="12" name="llm"/>
          <p:cNvSpPr/>
          <p:nvPr/>
        </p:nvSpPr>
        <p:spPr>
          <a:xfrm>
            <a:off x="5532120" y="1097280"/>
            <a:ext cx="1920240" cy="1325880"/>
          </a:xfrm>
          <a:prstGeom prst="roundRect">
            <a:avLst>
              <a:gd name="adj" fmla="val 5517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532120" y="1097280"/>
            <a:ext cx="1920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Языковая модель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+ LoRA r = 16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обучается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470648" y="1755648"/>
            <a:ext cx="256032" cy="0"/>
          </a:xfrm>
          <a:prstGeom prst="line">
            <a:avLst/>
          </a:prstGeom>
          <a:noFill/>
          <a:ln w="19050">
            <a:solidFill>
              <a:srgbClr val="898781"/>
            </a:solidFill>
            <a:prstDash val="solid"/>
            <a:tailEnd type="triangle"/>
          </a:ln>
        </p:spPr>
      </p:sp>
      <p:sp>
        <p:nvSpPr>
          <p:cNvPr id="15" name="Text 13"/>
          <p:cNvSpPr txBox="1"/>
          <p:nvPr/>
        </p:nvSpPr>
        <p:spPr>
          <a:xfrm>
            <a:off x="7772400" y="155448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Ответ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5532120" y="260604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2514E"/>
                </a:solidFill>
              </a:rPr>
              <a:t>Вопрос на русском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92240" y="2606040"/>
            <a:ext cx="0" cy="-155448"/>
          </a:xfrm>
          <a:prstGeom prst="line">
            <a:avLst/>
          </a:prstGeom>
          <a:noFill/>
          <a:ln w="19050">
            <a:solidFill>
              <a:srgbClr val="898781"/>
            </a:solidFill>
            <a:prstDash val="solid"/>
            <a:tailEnd type="triangle"/>
          </a:ln>
        </p:spPr>
      </p:sp>
      <p:sp>
        <p:nvSpPr>
          <p:cNvPr id="18" name="Text 16"/>
          <p:cNvSpPr txBox="1"/>
          <p:nvPr/>
        </p:nvSpPr>
        <p:spPr>
          <a:xfrm>
            <a:off x="457200" y="315468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17.4 млн</a:t>
            </a:r>
            <a:endParaRPr lang="en-US" sz="34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379476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2514E"/>
                </a:solidFill>
              </a:rPr>
              <a:t>обучаемых параметров (0.81%)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3273552" y="315468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≤ 196</a:t>
            </a:r>
            <a:endParaRPr lang="en-US" sz="3400" dirty="0"/>
          </a:p>
        </p:txBody>
      </p:sp>
      <p:sp>
        <p:nvSpPr>
          <p:cNvPr id="21" name="Text 19"/>
          <p:cNvSpPr txBox="1"/>
          <p:nvPr/>
        </p:nvSpPr>
        <p:spPr>
          <a:xfrm>
            <a:off x="3273552" y="379476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2514E"/>
                </a:solidFill>
              </a:rPr>
              <a:t>визуальных токенов на картинку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6089904" y="315468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70 МБ</a:t>
            </a:r>
            <a:endParaRPr lang="en-US" sz="3400" dirty="0"/>
          </a:p>
        </p:txBody>
      </p:sp>
      <p:sp>
        <p:nvSpPr>
          <p:cNvPr id="23" name="Text 21"/>
          <p:cNvSpPr txBox="1"/>
          <p:nvPr/>
        </p:nvSpPr>
        <p:spPr>
          <a:xfrm>
            <a:off x="6089904" y="379476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2514E"/>
                </a:solidFill>
              </a:rPr>
              <a:t>размер адаптера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9878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Обучение на ноутбучной GPU 8 ГБ</a:t>
            </a:r>
            <a:endParaRPr lang="en-US" sz="30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365760" y="1051560"/>
          <a:ext cx="5120640" cy="3429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852160" y="109728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37.7 мин</a:t>
            </a:r>
            <a:endParaRPr lang="en-US" sz="3000" dirty="0"/>
          </a:p>
        </p:txBody>
      </p:sp>
      <p:sp>
        <p:nvSpPr>
          <p:cNvPr id="5" name="Text 2"/>
          <p:cNvSpPr txBox="1"/>
          <p:nvPr/>
        </p:nvSpPr>
        <p:spPr>
          <a:xfrm>
            <a:off x="5852160" y="164592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2514E"/>
                </a:solidFill>
              </a:rPr>
              <a:t>одна эпоха, 721 шагов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5852160" y="219456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7.34 ГБ</a:t>
            </a:r>
            <a:endParaRPr lang="en-US" sz="3000" dirty="0"/>
          </a:p>
        </p:txBody>
      </p:sp>
      <p:sp>
        <p:nvSpPr>
          <p:cNvPr id="7" name="Text 4"/>
          <p:cNvSpPr txBox="1"/>
          <p:nvPr/>
        </p:nvSpPr>
        <p:spPr>
          <a:xfrm>
            <a:off x="5852160" y="274320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2514E"/>
                </a:solidFill>
              </a:rPr>
              <a:t>пик видеопамяти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5852160" y="329184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11530</a:t>
            </a:r>
            <a:endParaRPr lang="en-US" sz="3000" dirty="0"/>
          </a:p>
        </p:txBody>
      </p:sp>
      <p:sp>
        <p:nvSpPr>
          <p:cNvPr id="9" name="Text 6"/>
          <p:cNvSpPr txBox="1"/>
          <p:nvPr/>
        </p:nvSpPr>
        <p:spPr>
          <a:xfrm>
            <a:off x="5852160" y="384048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2514E"/>
                </a:solidFill>
              </a:rPr>
              <a:t>обучающих примеров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9878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GQA-ru: ExactMatch на testdev</a:t>
            </a:r>
            <a:endParaRPr lang="en-US" sz="30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365760" y="1051560"/>
          <a:ext cx="548640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 txBox="1"/>
          <p:nvPr/>
        </p:nvSpPr>
        <p:spPr>
          <a:xfrm>
            <a:off x="6126480" y="118872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+11.4</a:t>
            </a:r>
            <a:endParaRPr lang="en-US" sz="4400" dirty="0"/>
          </a:p>
        </p:txBody>
      </p:sp>
      <p:sp>
        <p:nvSpPr>
          <p:cNvPr id="5" name="Text 2"/>
          <p:cNvSpPr txBox="1"/>
          <p:nvPr/>
        </p:nvSpPr>
        <p:spPr>
          <a:xfrm>
            <a:off x="6126480" y="192024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2514E"/>
                </a:solidFill>
              </a:rPr>
              <a:t>п.п. к исходной модели после 38 мин обучения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6126480" y="2697480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+1.0 п.п. к llava-saiga-8b — модели в 4 раза больше, обученной на 8×A100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6126480" y="379476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98781"/>
                </a:solidFill>
              </a:rPr>
              <a:t>12 216 вопросов, без учёта регистра и пунктуации, как в lmms-eval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9878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MMBench-ru: CircularEval на dev</a:t>
            </a:r>
            <a:endParaRPr lang="en-US" sz="30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365760" y="1051560"/>
          <a:ext cx="548640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 txBox="1"/>
          <p:nvPr/>
        </p:nvSpPr>
        <p:spPr>
          <a:xfrm>
            <a:off x="6126480" y="118872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68.7</a:t>
            </a:r>
            <a:endParaRPr lang="en-US" sz="4400" dirty="0"/>
          </a:p>
        </p:txBody>
      </p:sp>
      <p:sp>
        <p:nvSpPr>
          <p:cNvPr id="5" name="Text 2"/>
          <p:cNvSpPr txBox="1"/>
          <p:nvPr/>
        </p:nvSpPr>
        <p:spPr>
          <a:xfrm>
            <a:off x="6126480" y="192024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2514E"/>
                </a:solidFill>
              </a:rPr>
              <a:t>CircularEval; без дообучения — 65.7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6126480" y="2697480"/>
            <a:ext cx="2560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+12.1 п.п. к llava-saiga-8b. Прирост к исходной модели — в основном формат: она в 5.0% случаев рассуждала вместо буквы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6126480" y="388620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98781"/>
                </a:solidFill>
              </a:rPr>
              <a:t>Верхняя граница исходной модели — 70.6: вывод «общие навыки не пострадали»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9878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Что выучила модель</a:t>
            </a:r>
            <a:endParaRPr lang="en-US" sz="30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8229600" cy="914400"/>
        </p:xfrm>
        <a:graphic>
          <a:graphicData uri="http://schemas.openxmlformats.org/drawingml/2006/table">
            <a:tbl>
              <a:tblPr/>
              <a:tblGrid>
                <a:gridCol w="4023360"/>
                <a:gridCol w="1371600"/>
                <a:gridCol w="1463040"/>
                <a:gridCol w="137160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5251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Вопрос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5251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Эталон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5251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Без дообучения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5251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LoRA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Какого цвета дом, коричневый или белый?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коричневый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белый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коричневый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Это банан или груша?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груша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яблоко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груша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Какого размера кровать?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большая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120х180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большая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На какой стороне фотографии находится молодой серфингист?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справа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правая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справа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Какое животное сильное?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слон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elephant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слон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57200" y="361188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Исправлено 2227 ответов, испорчено 838. Два эффекта: исходная модель склонялась к «нет» (да/нет: 65.3 → 73.9) и отвечала не в форме датасета — «левая» вместо «слева» (открытые: 27.4 → 40.3).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9878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Жизнеспособность модели</a:t>
            </a:r>
            <a:endParaRPr lang="en-US" sz="3000" dirty="0"/>
          </a:p>
        </p:txBody>
      </p:sp>
      <p:sp>
        <p:nvSpPr>
          <p:cNvPr id="3" name="live-0"/>
          <p:cNvSpPr/>
          <p:nvPr/>
        </p:nvSpPr>
        <p:spPr>
          <a:xfrm>
            <a:off x="457200" y="1097280"/>
            <a:ext cx="4023360" cy="13716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123444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4.3 ГБ + 70 МБ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82880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2514E"/>
                </a:solidFill>
              </a:rPr>
              <a:t>базовая модель + адаптер; несколько адаптеров на одну базу</a:t>
            </a:r>
            <a:endParaRPr lang="en-US" sz="1300" dirty="0"/>
          </a:p>
        </p:txBody>
      </p:sp>
      <p:sp>
        <p:nvSpPr>
          <p:cNvPr id="6" name="live-1"/>
          <p:cNvSpPr/>
          <p:nvPr/>
        </p:nvSpPr>
        <p:spPr>
          <a:xfrm>
            <a:off x="4663440" y="1097280"/>
            <a:ext cx="4023360" cy="13716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892040" y="123444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4.66 ГБ VRAM</a:t>
            </a:r>
            <a:endParaRPr lang="en-US" sz="2600" dirty="0"/>
          </a:p>
        </p:txBody>
      </p:sp>
      <p:sp>
        <p:nvSpPr>
          <p:cNvPr id="8" name="Text 6"/>
          <p:cNvSpPr txBox="1"/>
          <p:nvPr/>
        </p:nvSpPr>
        <p:spPr>
          <a:xfrm>
            <a:off x="4892040" y="182880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2514E"/>
                </a:solidFill>
              </a:rPr>
              <a:t>пик инференса: потребительская GPU, данные не уходят в облако</a:t>
            </a:r>
            <a:endParaRPr lang="en-US" sz="1300" dirty="0"/>
          </a:p>
        </p:txBody>
      </p:sp>
      <p:sp>
        <p:nvSpPr>
          <p:cNvPr id="9" name="live-2"/>
          <p:cNvSpPr/>
          <p:nvPr/>
        </p:nvSpPr>
        <p:spPr>
          <a:xfrm>
            <a:off x="457200" y="2697480"/>
            <a:ext cx="4023360" cy="13716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85800" y="283464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0.21 с</a:t>
            </a:r>
            <a:endParaRPr lang="en-US" sz="2600" dirty="0"/>
          </a:p>
        </p:txBody>
      </p:sp>
      <p:sp>
        <p:nvSpPr>
          <p:cNvPr id="11" name="Text 9"/>
          <p:cNvSpPr txBox="1"/>
          <p:nvPr/>
        </p:nvSpPr>
        <p:spPr>
          <a:xfrm>
            <a:off x="685800" y="342900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2514E"/>
                </a:solidFill>
              </a:rPr>
              <a:t>короткий ответ; батчем — 13.8 вопроса/с, описание 128 токенов — 3.2 с</a:t>
            </a:r>
            <a:endParaRPr lang="en-US" sz="1300" dirty="0"/>
          </a:p>
        </p:txBody>
      </p:sp>
      <p:sp>
        <p:nvSpPr>
          <p:cNvPr id="12" name="live-3"/>
          <p:cNvSpPr/>
          <p:nvPr/>
        </p:nvSpPr>
        <p:spPr>
          <a:xfrm>
            <a:off x="4663440" y="2697480"/>
            <a:ext cx="4023360" cy="13716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892040" y="283464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38 мин vs дни</a:t>
            </a:r>
            <a:endParaRPr lang="en-US" sz="2600" dirty="0"/>
          </a:p>
        </p:txBody>
      </p:sp>
      <p:sp>
        <p:nvSpPr>
          <p:cNvPr id="14" name="Text 12"/>
          <p:cNvSpPr txBox="1"/>
          <p:nvPr/>
        </p:nvSpPr>
        <p:spPr>
          <a:xfrm>
            <a:off x="4892040" y="342900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2514E"/>
                </a:solidFill>
              </a:rPr>
              <a:t>обучение на ноутбуке против 3–4 дней на 8×A100 у llava-saiga-8b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9878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Ограничения и следующие шаги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5156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Ограничения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463040"/>
            <a:ext cx="393192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Метрики VK взяты из карточек моделей; наш скрипт повторяет протокол lmms-eval, но это другая реализация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Прирост на GQA-ru — в основном калибровка «да/нет» и форма ответов; рост «понимания» картинок отдельно не мерили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Под MMBench-ru нет обучающих данных: MC-аугментация из GQA не покрывает OCR и диаграммы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Один прогон без подбора гиперпараметров и абляций — из-за сроков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4754880" y="105156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Дальше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4754880" y="1463040"/>
            <a:ext cx="393192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Весь GQA-ru train (40 тыс. вопросов) и больше LLaVA-Instruct-ru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Qwen3-VL-4B в 4-битной QLoRA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Абляции по доле MC-аугментации и разрешению картинок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Проверить модели VK тем же скриптом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9878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234440"/>
            <a:ext cx="8046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GQA-ru 52.5 · MMBench-ru 68.7</a:t>
            </a:r>
            <a:endParaRPr lang="en-US" sz="3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926080"/>
            <a:ext cx="8046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2B-модель, дообученная на открытых данных VK за 38 мин на ноутбуке, обходит открытые модели VK на GQA-ru и MMBench-ru.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 </a:t>
            </a:r>
            <a:endParaRPr lang="en-US" sz="16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C3C2B7"/>
                </a:solidFill>
              </a:rPr>
              <a:t>Код, адаптер, отчёт и демо: github.com/…/vk-vlm-ru-project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VK VLM">
  <a:themeElements>
    <a:clrScheme name="VK VLM">
      <a:dk1>
        <a:srgbClr val="0B0B0B"/>
      </a:dk1>
      <a:lt1>
        <a:srgbClr val="FFFFFF"/>
      </a:lt1>
      <a:dk2>
        <a:srgbClr val="14213D"/>
      </a:dk2>
      <a:lt2>
        <a:srgbClr val="EEF1F6"/>
      </a:lt2>
      <a:accent1>
        <a:srgbClr val="2A78D6"/>
      </a:accent1>
      <a:accent2>
        <a:srgbClr val="EB6834"/>
      </a:accent2>
      <a:accent3>
        <a:srgbClr val="1BAF7A"/>
      </a:accent3>
      <a:accent4>
        <a:srgbClr val="EDA100"/>
      </a:accent4>
      <a:accent5>
        <a:srgbClr val="6250D6"/>
      </a:accent5>
      <a:accent6>
        <a:srgbClr val="E34948"/>
      </a:accent6>
      <a:hlink>
        <a:srgbClr val="2A78D6"/>
      </a:hlink>
      <a:folHlink>
        <a:srgbClr val="6250D6"/>
      </a:folHlink>
    </a:clrScheme>
    <a:fontScheme name="VK VLM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Компактная русскоязычная VLM на открытых данных VK</dc:title>
  <dc:subject>PptxGenJS Presentation</dc:subject>
  <dc:creator>Засимов Георгий Алексеевич</dc:creator>
  <cp:lastModifiedBy>Засимов Георгий Алексеевич</cp:lastModifiedBy>
  <cp:revision>1</cp:revision>
  <dcterms:created xsi:type="dcterms:W3CDTF">2026-10-25T15:01:01Z</dcterms:created>
  <dcterms:modified xsi:type="dcterms:W3CDTF">2026-10-25T15:01:01Z</dcterms:modified>
</cp:coreProperties>
</file>